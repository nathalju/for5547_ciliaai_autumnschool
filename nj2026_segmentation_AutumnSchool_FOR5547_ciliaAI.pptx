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0" r:id="rId4"/>
    <p:sldId id="266" r:id="rId5"/>
    <p:sldId id="257" r:id="rId6"/>
    <p:sldId id="267" r:id="rId7"/>
    <p:sldId id="265" r:id="rId8"/>
    <p:sldId id="269" r:id="rId9"/>
    <p:sldId id="259" r:id="rId10"/>
    <p:sldId id="264" r:id="rId11"/>
    <p:sldId id="258" r:id="rId12"/>
    <p:sldId id="268" r:id="rId13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923"/>
    <p:restoredTop sz="94672"/>
  </p:normalViewPr>
  <p:slideViewPr>
    <p:cSldViewPr snapToGrid="0">
      <p:cViewPr>
        <p:scale>
          <a:sx n="70" d="100"/>
          <a:sy n="70" d="100"/>
        </p:scale>
        <p:origin x="360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7FA3-B9DB-0318-E6BA-F152245C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AD7DA-F1B2-4D09-C1FE-CC91176A8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7EBED-39C9-86E5-0BD6-2E91687B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C2A83-52B7-181F-FB3E-92313EC6F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230D6-AC37-B240-613D-8B949F61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2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05D4-A8FF-943C-F3D3-A48EFD735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FEAA9-356D-C64B-5B42-75CEB5781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E8B8B-3BC2-7941-561E-F76EE867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FC201-983E-D0C8-5C3F-DD1914F6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14DA-E245-5FE2-1F8D-BB8056C9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1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1A8F-B503-A558-0E26-77456E962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308D2-4B80-7CAB-3110-8F99F3EDF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367FF-7CC0-CA55-9AED-93BDE31A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053AB-201F-C95A-29AD-01C3DE68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62055-E053-CFBB-EE1E-EE3F6DC2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5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B719-C163-3A3B-9AD2-82910F5D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F6ECA-3C20-6EB4-953D-06FCEDEE3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9E7D9-EA2B-34A5-D99B-07FD2FAE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ED907-A0C5-DE90-5C1D-B9A24FC9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F23E4-B57D-933A-5D2D-7A05277CC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DD51D-0836-71F6-F6FD-60710F59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46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5FEA-AAC4-A1E8-281F-F5272253D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CAB1D-DF24-EB89-7298-D8A6B1189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D58AE-91A7-2797-C145-01B85B04A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5AF9F-9D80-4240-2CD9-A0A9E4664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91D8A-E7E9-B905-25DB-3B4EF9084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A1C6A8-7E06-A2F1-25A6-5D024D40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B74852-1B82-37C8-C85B-389A500E2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F620C1-7435-102D-E725-F41061EF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0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AD76-5A04-BF7D-2055-F632FCD3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EE206-A3F8-163C-4CFB-8C2AE3A9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28003-1F4A-2428-76A3-C1AF936B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25274-8CDD-E366-AA87-9DBEC99D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4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34BE9-270A-C7D3-C914-BE8BA763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77068-F1D8-D7D9-17EC-5A328611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88A14-FB41-BE7A-D01C-B1148654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AA49-5743-B1F5-45A3-E347E1F7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8787-AE8B-2726-C0CD-B56954B23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6079D-8E69-1938-E2D6-2FB6A933D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12A43-2CDD-E5EF-6093-E0E184DA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429C3-F264-3136-4DC0-8FDE2AF4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959D1-49C9-2E83-5AE9-5E25C58D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57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F646E-7D55-7D81-8C92-AB3F9BA9B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CE8C88-81A4-4DA2-C625-C4E6FDD71F9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8F7BE-C368-F436-15F5-26B4723E2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2424A-E47C-8069-5487-D687EC4F2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B5254-5A0D-63D2-5F9D-981B817F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7875F-2F25-F4A0-5A4F-E17E2936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6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238F-7FD9-FDE4-AFBF-3ABC7470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DE336-2DC2-3205-CF69-B34B0D11E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04292-16A7-8CE9-A07F-5843441B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4DD4B-3150-C932-63C7-D7C57F0A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21B2-AA06-7327-316D-F4757D1F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9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466EE-31A7-6722-7AC6-C1C6140209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BF858-902B-40C8-37FE-3E57EB2B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E1804-3B20-48A9-45D5-70C8B6DE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6B4E1-4650-4508-8F14-34DE4F37A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44F88-666E-7586-5699-4BF84B92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24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7E554-1068-4360-EE50-0EC6C0C0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F8BC-A173-FED0-4A0E-BC7DE23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72C-A5B9-4982-8A44-A0656AC99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5B0D0-6AE1-4E4E-9ED4-9F4B0219386C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A5DC3-ED82-D147-E5FE-8C3D50B1B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5CC1D-B657-A170-05A2-D8ABF0051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83886-4172-BE46-A125-8379575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6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APoL/Bio-image_Analysis_with_Python/blob/main/04_image_segmentation/Image_segmentation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bioimagebook.github.io/chapters/2-processing/3-thresholding/thresholding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uni-bonn.sciebo.de/s/dYZ5Hkypz8YNTK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APoL/Bio-image_Analysis_with_Python/tree/main" TargetMode="External"/><Relationship Id="rId2" Type="http://schemas.openxmlformats.org/officeDocument/2006/relationships/hyperlink" Target="https://bioimagebook.github.io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eep learning cell segmentation">
            <a:extLst>
              <a:ext uri="{FF2B5EF4-FFF2-40B4-BE49-F238E27FC236}">
                <a16:creationId xmlns:a16="http://schemas.microsoft.com/office/drawing/2014/main" id="{4408E3A6-B9D6-A743-52EC-0AD18EB90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87" y="323164"/>
            <a:ext cx="12212787" cy="498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CCB5C6-5014-36B6-B918-9837511F9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05980"/>
            <a:ext cx="7792279" cy="155201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Segmentation 1.0.1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Nathalie Jurisch-Yaksi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19861-0E58-7F34-DED7-5E38576A07CD}"/>
              </a:ext>
            </a:extLst>
          </p:cNvPr>
          <p:cNvSpPr txBox="1"/>
          <p:nvPr/>
        </p:nvSpPr>
        <p:spPr>
          <a:xfrm>
            <a:off x="0" y="-1"/>
            <a:ext cx="1188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https://</a:t>
            </a:r>
            <a:r>
              <a:rPr lang="en-US" sz="2400" dirty="0" err="1">
                <a:solidFill>
                  <a:schemeClr val="bg1"/>
                </a:solidFill>
              </a:rPr>
              <a:t>evidentscientific.com</a:t>
            </a:r>
            <a:r>
              <a:rPr lang="en-US" sz="2400" dirty="0">
                <a:solidFill>
                  <a:schemeClr val="bg1"/>
                </a:solidFill>
              </a:rPr>
              <a:t>/</a:t>
            </a:r>
            <a:r>
              <a:rPr lang="en-US" sz="2400" dirty="0" err="1">
                <a:solidFill>
                  <a:schemeClr val="bg1"/>
                </a:solidFill>
              </a:rPr>
              <a:t>en</a:t>
            </a:r>
            <a:r>
              <a:rPr lang="en-US" sz="2400" dirty="0">
                <a:solidFill>
                  <a:schemeClr val="bg1"/>
                </a:solidFill>
              </a:rPr>
              <a:t>/insights/20-examples-of-effortless-nucleus-and-cell-segmentation-using-pretrained-deep-learning-models</a:t>
            </a:r>
          </a:p>
        </p:txBody>
      </p:sp>
    </p:spTree>
    <p:extLst>
      <p:ext uri="{BB962C8B-B14F-4D97-AF65-F5344CB8AC3E}">
        <p14:creationId xmlns:p14="http://schemas.microsoft.com/office/powerpoint/2010/main" val="295426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633ED-F5B5-691F-506A-C8551454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08A0DF-DB18-1387-BF31-DC00D8D0C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image segmentation?</a:t>
            </a:r>
          </a:p>
        </p:txBody>
      </p:sp>
    </p:spTree>
    <p:extLst>
      <p:ext uri="{BB962C8B-B14F-4D97-AF65-F5344CB8AC3E}">
        <p14:creationId xmlns:p14="http://schemas.microsoft.com/office/powerpoint/2010/main" val="1349846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6E40FB-321D-6898-C82A-D8F9093A2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726"/>
          <a:stretch>
            <a:fillRect/>
          </a:stretch>
        </p:blipFill>
        <p:spPr>
          <a:xfrm>
            <a:off x="314826" y="1998465"/>
            <a:ext cx="4622699" cy="445033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98DC74-4F80-9BBB-EDBF-720151793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image segmentation?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50E28-FF9C-40A7-9D89-5F4D733924AD}"/>
              </a:ext>
            </a:extLst>
          </p:cNvPr>
          <p:cNvSpPr txBox="1"/>
          <p:nvPr/>
        </p:nvSpPr>
        <p:spPr>
          <a:xfrm>
            <a:off x="314826" y="6492875"/>
            <a:ext cx="11562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github.com</a:t>
            </a:r>
            <a:r>
              <a:rPr lang="en-US" sz="1400" dirty="0"/>
              <a:t>/</a:t>
            </a:r>
            <a:r>
              <a:rPr lang="en-US" sz="1400" dirty="0" err="1"/>
              <a:t>BiAPoL</a:t>
            </a:r>
            <a:r>
              <a:rPr lang="en-US" sz="1400" dirty="0"/>
              <a:t>/Bio-</a:t>
            </a:r>
            <a:r>
              <a:rPr lang="en-US" sz="1400" dirty="0" err="1"/>
              <a:t>image_Analysis_with_Python</a:t>
            </a:r>
            <a:r>
              <a:rPr lang="en-US" sz="1400" dirty="0"/>
              <a:t>/blob/main/04_image_segmentation/</a:t>
            </a:r>
            <a:r>
              <a:rPr lang="en-US" sz="1400" dirty="0" err="1"/>
              <a:t>Image_segmentation.pdf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E03ACA-8DBC-2977-92D3-58B70EAB3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211"/>
          <a:stretch>
            <a:fillRect/>
          </a:stretch>
        </p:blipFill>
        <p:spPr>
          <a:xfrm>
            <a:off x="7028914" y="1998465"/>
            <a:ext cx="4422458" cy="4450334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8D981A5E-28BC-E085-6423-5B8DB32F122F}"/>
              </a:ext>
            </a:extLst>
          </p:cNvPr>
          <p:cNvSpPr/>
          <p:nvPr/>
        </p:nvSpPr>
        <p:spPr>
          <a:xfrm>
            <a:off x="5364939" y="3873937"/>
            <a:ext cx="1463736" cy="8595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E256F-F15A-0AB5-5A46-A3E3B3B737F4}"/>
              </a:ext>
            </a:extLst>
          </p:cNvPr>
          <p:cNvSpPr txBox="1"/>
          <p:nvPr/>
        </p:nvSpPr>
        <p:spPr>
          <a:xfrm>
            <a:off x="838200" y="1261891"/>
            <a:ext cx="113494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2800" dirty="0"/>
              <a:t>Image segmentation is the process of partitioning an image into meaningful regions or objects.</a:t>
            </a:r>
          </a:p>
          <a:p>
            <a:endParaRPr lang="en-US" sz="2800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6C199B6E-0B8B-9466-1E1C-39A478C07D58}"/>
              </a:ext>
            </a:extLst>
          </p:cNvPr>
          <p:cNvSpPr txBox="1">
            <a:spLocks/>
          </p:cNvSpPr>
          <p:nvPr/>
        </p:nvSpPr>
        <p:spPr>
          <a:xfrm>
            <a:off x="935772" y="3383460"/>
            <a:ext cx="10515600" cy="1325563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Why do you want to do segmentation?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76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ABB4BD-F231-9F52-E05E-0528D892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920" b="26226"/>
          <a:stretch>
            <a:fillRect/>
          </a:stretch>
        </p:blipFill>
        <p:spPr>
          <a:xfrm>
            <a:off x="838200" y="2067892"/>
            <a:ext cx="6690597" cy="2312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D15228-2430-0F08-4EDC-32EA06087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003" r="37932"/>
          <a:stretch>
            <a:fillRect/>
          </a:stretch>
        </p:blipFill>
        <p:spPr>
          <a:xfrm>
            <a:off x="1046922" y="4447071"/>
            <a:ext cx="5605669" cy="8460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9964EA-FB4E-2151-368A-2D7B0FE87F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15" t="3604" b="26226"/>
          <a:stretch>
            <a:fillRect/>
          </a:stretch>
        </p:blipFill>
        <p:spPr>
          <a:xfrm>
            <a:off x="8256104" y="2180828"/>
            <a:ext cx="2292626" cy="21991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F2CC08-FBC6-5DA5-D5D5-3FA3D271C45B}"/>
              </a:ext>
            </a:extLst>
          </p:cNvPr>
          <p:cNvSpPr txBox="1"/>
          <p:nvPr/>
        </p:nvSpPr>
        <p:spPr>
          <a:xfrm>
            <a:off x="314826" y="6185098"/>
            <a:ext cx="115623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https://github.com/BiAPoL/Bio-image_Analysis_with_Python/blob/main/04_image_segmentation/Image_segmentation.pdf</a:t>
            </a:r>
            <a:endParaRPr lang="en-US" sz="1400" dirty="0"/>
          </a:p>
          <a:p>
            <a:r>
              <a:rPr lang="en-US" sz="1400" dirty="0">
                <a:hlinkClick r:id="rId4"/>
              </a:rPr>
              <a:t>https://bioimagebook.github.io/chapters/2-processing/3-thresholding/thresholding.html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0093F13-7BDE-D0AB-169B-709AE6CF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Segmentation: what are the steps?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5EBA0D-55EC-C231-D617-C1762D8744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41" t="73003"/>
          <a:stretch>
            <a:fillRect/>
          </a:stretch>
        </p:blipFill>
        <p:spPr>
          <a:xfrm>
            <a:off x="7010398" y="4447070"/>
            <a:ext cx="3419257" cy="84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3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C4FF-4E10-7F66-1C9C-AD912A3D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Things to consider when segmenting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B4038-B8FE-C23D-F122-23010F6FA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48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FD93E-E6FA-7EBA-B929-8F2A893A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1080-4C2A-9DF8-0CE2-23BBFECD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Things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7111C-00A6-FEB3-DD69-868C6494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Pre-processing? What kind?</a:t>
            </a:r>
          </a:p>
          <a:p>
            <a:r>
              <a:rPr lang="en-US" dirty="0"/>
              <a:t>2D versus 3D?</a:t>
            </a:r>
          </a:p>
          <a:p>
            <a:r>
              <a:rPr lang="en-US" dirty="0"/>
              <a:t>Automatization? Or User in the loop?</a:t>
            </a:r>
          </a:p>
          <a:p>
            <a:r>
              <a:rPr lang="en-US" dirty="0"/>
              <a:t>Batch processing, one image at a time?</a:t>
            </a:r>
          </a:p>
          <a:p>
            <a:r>
              <a:rPr lang="en-US" dirty="0"/>
              <a:t>Check of quality?</a:t>
            </a:r>
          </a:p>
          <a:p>
            <a:r>
              <a:rPr lang="en-US" dirty="0"/>
              <a:t>Use of AI?</a:t>
            </a:r>
          </a:p>
        </p:txBody>
      </p:sp>
    </p:spTree>
    <p:extLst>
      <p:ext uri="{BB962C8B-B14F-4D97-AF65-F5344CB8AC3E}">
        <p14:creationId xmlns:p14="http://schemas.microsoft.com/office/powerpoint/2010/main" val="3192266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E8999-C3E7-AE76-4772-9971F85C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Segmentation: lots of tools available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83373-270E-A8CC-9B71-C238F6DE0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22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E46E-C7AA-4CCC-A555-4A3132FC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CiliaQ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78838-4167-86BA-D055-4D78439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35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BE8D-3CFD-6ECA-9B58-E347CAEBA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Morning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B45DF-C0BC-162F-7DE6-DDEDDEF2F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8520" cy="4351338"/>
          </a:xfrm>
        </p:spPr>
        <p:txBody>
          <a:bodyPr>
            <a:normAutofit/>
          </a:bodyPr>
          <a:lstStyle/>
          <a:p>
            <a:r>
              <a:rPr lang="en-US" dirty="0"/>
              <a:t>several datasets</a:t>
            </a:r>
          </a:p>
          <a:p>
            <a:pPr marL="0" indent="0">
              <a:buNone/>
            </a:pPr>
            <a:r>
              <a:rPr lang="en-US" dirty="0"/>
              <a:t>Link to data: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https://uni-bonn.sciebo.de/s</a:t>
            </a:r>
            <a:r>
              <a:rPr lang="en-US">
                <a:hlinkClick r:id="rId2"/>
              </a:rPr>
              <a:t>/dYZ5Hkypz8YNTKi</a:t>
            </a:r>
            <a:r>
              <a:rPr lang="en-US"/>
              <a:t> </a:t>
            </a:r>
            <a:endParaRPr lang="en-US" dirty="0"/>
          </a:p>
          <a:p>
            <a:pPr lvl="1"/>
            <a:r>
              <a:rPr lang="en-US" dirty="0"/>
              <a:t>Perfect cilia (Daniel)</a:t>
            </a:r>
          </a:p>
          <a:p>
            <a:pPr lvl="1"/>
            <a:r>
              <a:rPr lang="en-US" dirty="0"/>
              <a:t>Overlapping cilia (Valentina)</a:t>
            </a:r>
          </a:p>
          <a:p>
            <a:pPr lvl="1"/>
            <a:r>
              <a:rPr lang="en-US" dirty="0"/>
              <a:t>Short cilia with high background (Himanshu)</a:t>
            </a:r>
          </a:p>
          <a:p>
            <a:pPr lvl="1"/>
            <a:r>
              <a:rPr lang="en-US" dirty="0"/>
              <a:t>Bundled cilia (Yasmin)</a:t>
            </a:r>
          </a:p>
          <a:p>
            <a:pPr lvl="1"/>
            <a:r>
              <a:rPr lang="en-US" dirty="0"/>
              <a:t>Thick 3D dataset with lots of nuclei (Nathalie)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6F525-7483-33C5-C968-715BFFB15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188" y="182245"/>
            <a:ext cx="3623150" cy="451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3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C69AEB-D5F1-36A9-0C21-AD22F2C5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Segmentation: reflections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2B37D-6F86-C78D-16CF-D49BA386B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NO" dirty="0"/>
              <a:t>What is a "correct" segmentation? </a:t>
            </a:r>
          </a:p>
          <a:p>
            <a:r>
              <a:rPr lang="en-NO" dirty="0"/>
              <a:t>What determines the quality of a segmentation?</a:t>
            </a:r>
          </a:p>
          <a:p>
            <a:endParaRPr lang="en-NO" dirty="0"/>
          </a:p>
          <a:p>
            <a:r>
              <a:rPr lang="en-NO" dirty="0"/>
              <a:t>What are weakness and challenges with segmentations? </a:t>
            </a:r>
            <a:r>
              <a:rPr lang="en-GB" dirty="0"/>
              <a:t>A</a:t>
            </a:r>
            <a:r>
              <a:rPr lang="en-NO" dirty="0"/>
              <a:t>nd why are these problematic?</a:t>
            </a:r>
          </a:p>
          <a:p>
            <a:endParaRPr lang="en-NO" dirty="0"/>
          </a:p>
          <a:p>
            <a:endParaRPr lang="en-N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0A33-04A7-EEAC-65CA-725AEF20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Afternoon project (group of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7D89A-78C2-769F-5680-41826C5D3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02" y="1925819"/>
            <a:ext cx="762800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Your data suggest that in your mutant cells, cilia take longer time to re-assemble after mitosis. </a:t>
            </a:r>
          </a:p>
          <a:p>
            <a:r>
              <a:rPr lang="en-US" dirty="0"/>
              <a:t>You want to quantify these data. For this, y</a:t>
            </a:r>
            <a:r>
              <a:rPr lang="en-NO" dirty="0"/>
              <a:t>ou plan to perform live-cell confocal fluorescence microscopy with a cilia marker and a FUCCI cell-cycle reporter.</a:t>
            </a:r>
          </a:p>
          <a:p>
            <a:r>
              <a:rPr lang="en-NO" dirty="0"/>
              <a:t>Design an imaging and analysis pipeline to quantify cilia reassembly dynamics.</a:t>
            </a:r>
            <a:endParaRPr lang="en-US" dirty="0"/>
          </a:p>
          <a:p>
            <a:r>
              <a:rPr lang="en-US" dirty="0"/>
              <a:t>Consider: programing language, data handling, version control and reproducibility, documentation and usability, data output, visualization and statistics, AI-use, available computer infrastructure.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Fluorescent cellular changes associated with FUCCI Cell Cycle Sensor">
            <a:extLst>
              <a:ext uri="{FF2B5EF4-FFF2-40B4-BE49-F238E27FC236}">
                <a16:creationId xmlns:a16="http://schemas.microsoft.com/office/drawing/2014/main" id="{305FBEE6-BCDC-1E27-3CC7-4606A32A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143" y="1113183"/>
            <a:ext cx="3633857" cy="35340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DEA7FE-7CAD-DAA1-6EB4-3C72259E7105}"/>
              </a:ext>
            </a:extLst>
          </p:cNvPr>
          <p:cNvSpPr txBox="1"/>
          <p:nvPr/>
        </p:nvSpPr>
        <p:spPr>
          <a:xfrm>
            <a:off x="8892209" y="4744279"/>
            <a:ext cx="3167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www.moleculardevices.com</a:t>
            </a:r>
            <a:r>
              <a:rPr lang="en-US" sz="1200" dirty="0"/>
              <a:t>/</a:t>
            </a:r>
            <a:r>
              <a:rPr lang="en-US" sz="1200" dirty="0" err="1"/>
              <a:t>en</a:t>
            </a:r>
            <a:r>
              <a:rPr lang="en-US" sz="1200" dirty="0"/>
              <a:t>/assets/app-note/dd/</a:t>
            </a:r>
            <a:r>
              <a:rPr lang="en-US" sz="1200" dirty="0" err="1"/>
              <a:t>img</a:t>
            </a:r>
            <a:r>
              <a:rPr lang="en-US" sz="1200" dirty="0"/>
              <a:t>/evaluating-cell-cycle-inhibitors-using-live-cell-assay</a:t>
            </a:r>
          </a:p>
        </p:txBody>
      </p:sp>
    </p:spTree>
    <p:extLst>
      <p:ext uri="{BB962C8B-B14F-4D97-AF65-F5344CB8AC3E}">
        <p14:creationId xmlns:p14="http://schemas.microsoft.com/office/powerpoint/2010/main" val="808295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2801-C23D-A1DC-ECE4-817970CDC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AE234-8141-A6EE-9E23-48C80E6E2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https://bioimagebook.github.io/index.html</a:t>
            </a:r>
            <a:endParaRPr lang="en-US" dirty="0"/>
          </a:p>
          <a:p>
            <a:r>
              <a:rPr lang="en-US" dirty="0">
                <a:hlinkClick r:id="rId3"/>
              </a:rPr>
              <a:t>https://github.com/BiAPoL/Bio-image_Analysis_with_Python/tree/main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33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5226</TotalTime>
  <Words>417</Words>
  <Application>Microsoft Macintosh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Segmentation 1.0.1 Nathalie Jurisch-Yaksi</vt:lpstr>
      <vt:lpstr>What is image segmentation?</vt:lpstr>
      <vt:lpstr>What is image segmentation?</vt:lpstr>
      <vt:lpstr>Segmentation: what are the steps?</vt:lpstr>
      <vt:lpstr>Things to consider when segmenting data</vt:lpstr>
      <vt:lpstr>Things to consider</vt:lpstr>
      <vt:lpstr>Segmentation: lots of tools available</vt:lpstr>
      <vt:lpstr>CiliaQ</vt:lpstr>
      <vt:lpstr>Morning project</vt:lpstr>
      <vt:lpstr>Segmentation: reflections</vt:lpstr>
      <vt:lpstr>Afternoon project (group of 4)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Nathalie Jurisch-Yaksi</dc:creator>
  <cp:lastModifiedBy>Nathalie Jurisch-Yaksi</cp:lastModifiedBy>
  <cp:revision>9</cp:revision>
  <dcterms:created xsi:type="dcterms:W3CDTF">2026-10-04T16:06:43Z</dcterms:created>
  <dcterms:modified xsi:type="dcterms:W3CDTF">2026-10-08T07:13:29Z</dcterms:modified>
</cp:coreProperties>
</file>